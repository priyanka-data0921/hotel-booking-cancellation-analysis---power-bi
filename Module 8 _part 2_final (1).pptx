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 Rate %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87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87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876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876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876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8876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876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28.1</c:v>
                </c:pt>
                <c:pt idx="1">
                  <c:v>26.4</c:v>
                </c:pt>
                <c:pt idx="2">
                  <c:v>32.2</c:v>
                </c:pt>
                <c:pt idx="3">
                  <c:v>37.8</c:v>
                </c:pt>
                <c:pt idx="4">
                  <c:v>38.9</c:v>
                </c:pt>
                <c:pt idx="5">
                  <c:v>41.5</c:v>
                </c:pt>
                <c:pt idx="6">
                  <c:v>40.1</c:v>
                </c:pt>
                <c:pt idx="7">
                  <c:v>39.3</c:v>
                </c:pt>
                <c:pt idx="8">
                  <c:v>38.5</c:v>
                </c:pt>
                <c:pt idx="9">
                  <c:v>37.2</c:v>
                </c:pt>
                <c:pt idx="10">
                  <c:v>30.1</c:v>
                </c:pt>
                <c:pt idx="11">
                  <c:v>27.6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1E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 Rate %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960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87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0–30</c:v>
                  </c:pt>
                  <c:pt idx="1">
                    <c:v>31–60</c:v>
                  </c:pt>
                  <c:pt idx="2">
                    <c:v>61–90</c:v>
                  </c:pt>
                  <c:pt idx="3">
                    <c:v>91–120</c:v>
                  </c:pt>
                  <c:pt idx="4">
                    <c:v>121–180</c:v>
                  </c:pt>
                  <c:pt idx="5">
                    <c:v>181–365</c:v>
                  </c:pt>
                  <c:pt idx="6">
                    <c:v>365+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18.2</c:v>
                </c:pt>
                <c:pt idx="1">
                  <c:v>24.5</c:v>
                </c:pt>
                <c:pt idx="2">
                  <c:v>30.1</c:v>
                </c:pt>
                <c:pt idx="3">
                  <c:v>36.4</c:v>
                </c:pt>
                <c:pt idx="4">
                  <c:v>52.8</c:v>
                </c:pt>
                <c:pt idx="5">
                  <c:v>44.1</c:v>
                </c:pt>
                <c:pt idx="6">
                  <c:v>38.7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1E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 Rate %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876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Direct</c:v>
                  </c:pt>
                  <c:pt idx="1">
                    <c:v>Corporate</c:v>
                  </c:pt>
                  <c:pt idx="2">
                    <c:v>GDS</c:v>
                  </c:pt>
                  <c:pt idx="3">
                    <c:v>Undefined</c:v>
                  </c:pt>
                  <c:pt idx="4">
                    <c:v>TA/TO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13.2</c:v>
                </c:pt>
                <c:pt idx="1">
                  <c:v>20.4</c:v>
                </c:pt>
                <c:pt idx="2">
                  <c:v>25.8</c:v>
                </c:pt>
                <c:pt idx="3">
                  <c:v>80.1</c:v>
                </c:pt>
                <c:pt idx="4">
                  <c:v>41.3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E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097280"/>
            <a:ext cx="2560320" cy="2011680"/>
          </a:xfrm>
          <a:prstGeom prst="rect">
            <a:avLst/>
          </a:prstGeom>
          <a:solidFill>
            <a:srgbClr val="E8876A">
              <a:alpha val="20000"/>
            </a:srgbClr>
          </a:solidFill>
          <a:ln w="12700">
            <a:solidFill>
              <a:srgbClr val="E887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822960"/>
            <a:ext cx="2011680" cy="365760"/>
          </a:xfrm>
          <a:prstGeom prst="rect">
            <a:avLst/>
          </a:prstGeom>
          <a:solidFill>
            <a:srgbClr val="E8876A">
              <a:alpha val="40000"/>
            </a:srgbClr>
          </a:solidFill>
          <a:ln w="12700">
            <a:solidFill>
              <a:srgbClr val="E8876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Hotel Cancellations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2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Recommendations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StayWell Hotels Group  |  Data Analysis Report  |  Priyanka Bagadiya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of All Bookings Are Cancelled — Revenue Impact is Significant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14630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560320" cy="1463040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44,224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143000"/>
            <a:ext cx="2560320" cy="1463040"/>
          </a:xfrm>
          <a:prstGeom prst="rect">
            <a:avLst/>
          </a:prstGeom>
          <a:solidFill>
            <a:srgbClr val="7B52A1"/>
          </a:solidFill>
          <a:ln w="12700">
            <a:solidFill>
              <a:srgbClr val="7B52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and Resort Hotel show different cancellation patterns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lost per cancellation = avg daily rate × length of stay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identifies three highest-risk factors driving cancellations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B52A1"/>
          </a:solidFill>
          <a:ln w="12700">
            <a:solidFill>
              <a:srgbClr val="7B52A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52A1"/>
          </a:solidFill>
          <a:ln w="12700">
            <a:solidFill>
              <a:srgbClr val="7B52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"Summer Months Drive the Highest Cancellation Rates — June Peaks at 41.5%"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834640" cy="1188720"/>
          </a:xfrm>
          <a:prstGeom prst="rect">
            <a:avLst/>
          </a:prstGeom>
          <a:solidFill>
            <a:srgbClr val="E8876A">
              <a:alpha val="15000"/>
            </a:srgbClr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1704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Oct consistently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37% average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0" y="2468880"/>
            <a:ext cx="283464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2542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28346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stricter cancellation policies and dynamic pricing for bookings arriving in peak months (Apr–Oct).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52A1"/>
          </a:solidFill>
          <a:ln w="12700">
            <a:solidFill>
              <a:srgbClr val="7B52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"Bookings Made 121–180 Days Out Cancel at Nearly Twice the Rate of Last-Minute Bookings"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88720"/>
            <a:ext cx="2834640" cy="1325880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280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days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943600" y="18745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cancellations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2743200"/>
            <a:ext cx="2834640" cy="1325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8346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days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43600" y="3429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kept bookings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566160"/>
            <a:ext cx="28346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3584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non-refundable deposits for bookings made more than 90 days in advance.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52A1"/>
          </a:solidFill>
          <a:ln w="12700">
            <a:solidFill>
              <a:srgbClr val="7B52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"TA/TO Channel Cancels at 41% — Direct Bookings Cancel at Only 13%"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834640" cy="1097280"/>
          </a:xfrm>
          <a:prstGeom prst="rect">
            <a:avLst/>
          </a:prstGeom>
          <a:solidFill>
            <a:srgbClr val="E8876A">
              <a:alpha val="15000"/>
            </a:srgbClr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11704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gap between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TA/TO and Direct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2377440"/>
            <a:ext cx="28346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2450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9320" y="2788920"/>
            <a:ext cx="2743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direct booking incentives — loyalty discounts and exclusive rates — to shift mix away from high-cancellation OTA channels.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Highest-Risk Booking: Groups Segment + TA/TO Channel + 120+ Days Lead Time"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2286000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Segment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cancel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any market segment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06040" cy="2286000"/>
          </a:xfrm>
          <a:prstGeom prst="rect">
            <a:avLst/>
          </a:prstGeom>
          <a:solidFill>
            <a:srgbClr val="7B52A1"/>
          </a:solidFill>
          <a:ln w="12700">
            <a:solidFill>
              <a:srgbClr val="7B52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TA/TO Channel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62763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00400" y="24231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cancel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distribution channel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06040" cy="2286000"/>
          </a:xfrm>
          <a:prstGeom prst="rect">
            <a:avLst/>
          </a:prstGeom>
          <a:solidFill>
            <a:srgbClr val="2E5DA8"/>
          </a:solidFill>
          <a:ln w="12700">
            <a:solidFill>
              <a:srgbClr val="2E5DA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88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Days Lead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162763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35040" y="24231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rate for bookings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121–180 days 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841248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66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This profile is the most actionable target for policy intervention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879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Apply mandatory deposit requirement to all group bookings made through travel agents more than 90 days in advance.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7B52A1"/>
          </a:solidFill>
          <a:ln w="12700">
            <a:solidFill>
              <a:srgbClr val="7B52A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That Will Reduce Cancellations and Protect Revenue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94360" cy="960120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51560" y="1097280"/>
            <a:ext cx="76809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1704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Pricing &amp; Policy Adjustments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3619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stricter cancellation policies and dynamic pricing for April–October peak months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94360" cy="960120"/>
          </a:xfrm>
          <a:prstGeom prst="rect">
            <a:avLst/>
          </a:prstGeom>
          <a:solidFill>
            <a:srgbClr val="7B52A1"/>
          </a:solidFill>
          <a:ln w="12700">
            <a:solidFill>
              <a:srgbClr val="7B52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51560" y="2286000"/>
            <a:ext cx="76809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35915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Requirements for Long Lead Bookings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72491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non-refundable or partial deposits for all bookings made more than 90 days in advance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594360" cy="9601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7472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051560" y="3474720"/>
            <a:ext cx="76809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5478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Booking Incentive Program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9136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OTA dependency through loyalty discounts and exclusive direct-channel rates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6576"/>
          </a:xfrm>
          <a:prstGeom prst="rect">
            <a:avLst/>
          </a:prstGeom>
          <a:solidFill>
            <a:srgbClr val="E8876A"/>
          </a:solidFill>
          <a:ln w="12700">
            <a:solidFill>
              <a:srgbClr val="E887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recommendations are based on analysis of 119,390 historical bookings across city and resort hotel properties.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Reducing Hotel Cancellations</dc:title>
  <dc:subject>PptxGenJS Presentation</dc:subject>
  <dc:creator>PptxGenJS</dc:creator>
  <cp:lastModifiedBy>PptxGenJS</cp:lastModifiedBy>
  <cp:revision>1</cp:revision>
  <dcterms:created xsi:type="dcterms:W3CDTF">2026-04-29T00:29:26Z</dcterms:created>
  <dcterms:modified xsi:type="dcterms:W3CDTF">2026-04-29T00:29:26Z</dcterms:modified>
</cp:coreProperties>
</file>